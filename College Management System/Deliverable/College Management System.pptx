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nton" charset="1" panose="00000500000000000000"/>
      <p:regular r:id="rId13"/>
    </p:embeddedFont>
    <p:embeddedFont>
      <p:font typeface="Poppins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Arial" charset="1" panose="020B0604020202020204"/>
      <p:regular r:id="rId16"/>
    </p:embeddedFont>
    <p:embeddedFont>
      <p:font typeface="Arial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85055" y="1776851"/>
            <a:ext cx="6474245" cy="7481449"/>
            <a:chOff x="0" y="0"/>
            <a:chExt cx="893879" cy="103294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879" cy="1032941"/>
            </a:xfrm>
            <a:custGeom>
              <a:avLst/>
              <a:gdLst/>
              <a:ahLst/>
              <a:cxnLst/>
              <a:rect r="r" b="b" t="t" l="l"/>
              <a:pathLst>
                <a:path h="1032941" w="893879">
                  <a:moveTo>
                    <a:pt x="0" y="0"/>
                  </a:moveTo>
                  <a:lnTo>
                    <a:pt x="893879" y="0"/>
                  </a:lnTo>
                  <a:lnTo>
                    <a:pt x="893879" y="1032941"/>
                  </a:lnTo>
                  <a:lnTo>
                    <a:pt x="0" y="1032941"/>
                  </a:lnTo>
                  <a:close/>
                </a:path>
              </a:pathLst>
            </a:custGeom>
            <a:blipFill>
              <a:blip r:embed="rId3"/>
              <a:stretch>
                <a:fillRect l="-3738" t="0" r="-6938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1637167" y="8642339"/>
            <a:ext cx="9304158" cy="985848"/>
            <a:chOff x="0" y="0"/>
            <a:chExt cx="2450478" cy="259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50478" cy="259647"/>
            </a:xfrm>
            <a:custGeom>
              <a:avLst/>
              <a:gdLst/>
              <a:ahLst/>
              <a:cxnLst/>
              <a:rect r="r" b="b" t="t" l="l"/>
              <a:pathLst>
                <a:path h="259647" w="2450478">
                  <a:moveTo>
                    <a:pt x="24131" y="0"/>
                  </a:moveTo>
                  <a:lnTo>
                    <a:pt x="2426347" y="0"/>
                  </a:lnTo>
                  <a:cubicBezTo>
                    <a:pt x="2432747" y="0"/>
                    <a:pt x="2438885" y="2542"/>
                    <a:pt x="2443410" y="7068"/>
                  </a:cubicBezTo>
                  <a:cubicBezTo>
                    <a:pt x="2447935" y="11593"/>
                    <a:pt x="2450478" y="17731"/>
                    <a:pt x="2450478" y="24131"/>
                  </a:cubicBezTo>
                  <a:lnTo>
                    <a:pt x="2450478" y="235517"/>
                  </a:lnTo>
                  <a:cubicBezTo>
                    <a:pt x="2450478" y="248844"/>
                    <a:pt x="2439674" y="259647"/>
                    <a:pt x="2426347" y="259647"/>
                  </a:cubicBezTo>
                  <a:lnTo>
                    <a:pt x="24131" y="259647"/>
                  </a:lnTo>
                  <a:cubicBezTo>
                    <a:pt x="17731" y="259647"/>
                    <a:pt x="11593" y="257105"/>
                    <a:pt x="7068" y="252580"/>
                  </a:cubicBezTo>
                  <a:cubicBezTo>
                    <a:pt x="2542" y="248054"/>
                    <a:pt x="0" y="241917"/>
                    <a:pt x="0" y="235517"/>
                  </a:cubicBezTo>
                  <a:lnTo>
                    <a:pt x="0" y="24131"/>
                  </a:lnTo>
                  <a:cubicBezTo>
                    <a:pt x="0" y="17731"/>
                    <a:pt x="2542" y="11593"/>
                    <a:pt x="7068" y="7068"/>
                  </a:cubicBezTo>
                  <a:cubicBezTo>
                    <a:pt x="11593" y="2542"/>
                    <a:pt x="17731" y="0"/>
                    <a:pt x="2413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450478" cy="316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34148" y="1028700"/>
            <a:ext cx="825152" cy="206288"/>
          </a:xfrm>
          <a:custGeom>
            <a:avLst/>
            <a:gdLst/>
            <a:ahLst/>
            <a:cxnLst/>
            <a:rect r="r" b="b" t="t" l="l"/>
            <a:pathLst>
              <a:path h="206288" w="825152">
                <a:moveTo>
                  <a:pt x="0" y="0"/>
                </a:moveTo>
                <a:lnTo>
                  <a:pt x="825152" y="0"/>
                </a:lnTo>
                <a:lnTo>
                  <a:pt x="825152" y="206288"/>
                </a:lnTo>
                <a:lnTo>
                  <a:pt x="0" y="20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2416305"/>
            <a:ext cx="7445221" cy="354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1"/>
              </a:lnSpc>
            </a:pPr>
            <a:r>
              <a:rPr lang="en-US" sz="91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COLLEGE MANAGEMENT SYSTEM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844669"/>
            <a:ext cx="6995020" cy="39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Operational Efficiency and Data-Driven Insights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3621" y="8899044"/>
            <a:ext cx="656336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243761"/>
                </a:solidFill>
                <a:latin typeface="Poppins Bold"/>
                <a:ea typeface="Poppins Bold"/>
                <a:cs typeface="Poppins Bold"/>
                <a:sym typeface="Poppins Bold"/>
              </a:rPr>
              <a:t>Bipul Kumar |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380444" y="1447090"/>
            <a:ext cx="5246370" cy="5641977"/>
            <a:chOff x="0" y="0"/>
            <a:chExt cx="812800" cy="8740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74090"/>
            </a:xfrm>
            <a:custGeom>
              <a:avLst/>
              <a:gdLst/>
              <a:ahLst/>
              <a:cxnLst/>
              <a:rect r="r" b="b" t="t" l="l"/>
              <a:pathLst>
                <a:path h="87409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74090"/>
                  </a:lnTo>
                  <a:lnTo>
                    <a:pt x="0" y="874090"/>
                  </a:lnTo>
                  <a:close/>
                </a:path>
              </a:pathLst>
            </a:custGeom>
            <a:blipFill>
              <a:blip r:embed="rId3"/>
              <a:stretch>
                <a:fillRect l="-30554" t="0" r="-3055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380444" y="9452406"/>
            <a:ext cx="5246370" cy="3086100"/>
            <a:chOff x="0" y="0"/>
            <a:chExt cx="138176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1760" cy="812800"/>
            </a:xfrm>
            <a:custGeom>
              <a:avLst/>
              <a:gdLst/>
              <a:ahLst/>
              <a:cxnLst/>
              <a:rect r="r" b="b" t="t" l="l"/>
              <a:pathLst>
                <a:path h="812800" w="1381760">
                  <a:moveTo>
                    <a:pt x="0" y="0"/>
                  </a:moveTo>
                  <a:lnTo>
                    <a:pt x="1381760" y="0"/>
                  </a:lnTo>
                  <a:lnTo>
                    <a:pt x="138176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81760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80444" y="7279567"/>
            <a:ext cx="5246370" cy="1978733"/>
            <a:chOff x="0" y="0"/>
            <a:chExt cx="812800" cy="3065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306557"/>
            </a:xfrm>
            <a:custGeom>
              <a:avLst/>
              <a:gdLst/>
              <a:ahLst/>
              <a:cxnLst/>
              <a:rect r="r" b="b" t="t" l="l"/>
              <a:pathLst>
                <a:path h="30655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6557"/>
                  </a:lnTo>
                  <a:lnTo>
                    <a:pt x="0" y="306557"/>
                  </a:lnTo>
                  <a:close/>
                </a:path>
              </a:pathLst>
            </a:custGeom>
            <a:blipFill>
              <a:blip r:embed="rId4"/>
              <a:stretch>
                <a:fillRect l="0" t="-38489" r="0" b="-38489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49429" y="3464142"/>
            <a:ext cx="1006581" cy="1006581"/>
          </a:xfrm>
          <a:custGeom>
            <a:avLst/>
            <a:gdLst/>
            <a:ahLst/>
            <a:cxnLst/>
            <a:rect r="r" b="b" t="t" l="l"/>
            <a:pathLst>
              <a:path h="1006581" w="1006581">
                <a:moveTo>
                  <a:pt x="0" y="0"/>
                </a:moveTo>
                <a:lnTo>
                  <a:pt x="1006581" y="0"/>
                </a:lnTo>
                <a:lnTo>
                  <a:pt x="1006581" y="1006581"/>
                </a:lnTo>
                <a:lnTo>
                  <a:pt x="0" y="1006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6559146"/>
            <a:ext cx="1277916" cy="1027005"/>
          </a:xfrm>
          <a:custGeom>
            <a:avLst/>
            <a:gdLst/>
            <a:ahLst/>
            <a:cxnLst/>
            <a:rect r="r" b="b" t="t" l="l"/>
            <a:pathLst>
              <a:path h="1027005" w="1277916">
                <a:moveTo>
                  <a:pt x="0" y="0"/>
                </a:moveTo>
                <a:lnTo>
                  <a:pt x="1277916" y="0"/>
                </a:lnTo>
                <a:lnTo>
                  <a:pt x="1277916" y="1027005"/>
                </a:lnTo>
                <a:lnTo>
                  <a:pt x="0" y="10270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202881" y="-225100"/>
            <a:ext cx="10401863" cy="2204357"/>
            <a:chOff x="0" y="0"/>
            <a:chExt cx="2097495" cy="444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495" cy="481613"/>
            </a:xfrm>
            <a:custGeom>
              <a:avLst/>
              <a:gdLst/>
              <a:ahLst/>
              <a:cxnLst/>
              <a:rect r="r" b="b" t="t" l="l"/>
              <a:pathLst>
                <a:path h="481613" w="2097495">
                  <a:moveTo>
                    <a:pt x="2083249" y="0"/>
                  </a:moveTo>
                  <a:lnTo>
                    <a:pt x="14246" y="0"/>
                  </a:lnTo>
                  <a:cubicBezTo>
                    <a:pt x="10468" y="0"/>
                    <a:pt x="6844" y="1501"/>
                    <a:pt x="4173" y="4173"/>
                  </a:cubicBezTo>
                  <a:cubicBezTo>
                    <a:pt x="1501" y="6844"/>
                    <a:pt x="0" y="10468"/>
                    <a:pt x="0" y="14246"/>
                  </a:cubicBezTo>
                  <a:lnTo>
                    <a:pt x="0" y="398743"/>
                  </a:lnTo>
                  <a:cubicBezTo>
                    <a:pt x="111569" y="433272"/>
                    <a:pt x="468589" y="481613"/>
                    <a:pt x="1004118" y="398743"/>
                  </a:cubicBezTo>
                  <a:cubicBezTo>
                    <a:pt x="1539651" y="315872"/>
                    <a:pt x="1956175" y="364213"/>
                    <a:pt x="2097495" y="398743"/>
                  </a:cubicBezTo>
                  <a:lnTo>
                    <a:pt x="2097495" y="14246"/>
                  </a:lnTo>
                  <a:cubicBezTo>
                    <a:pt x="2097495" y="10468"/>
                    <a:pt x="2095994" y="6844"/>
                    <a:pt x="2093322" y="4173"/>
                  </a:cubicBezTo>
                  <a:cubicBezTo>
                    <a:pt x="2090651" y="1501"/>
                    <a:pt x="2087027" y="0"/>
                    <a:pt x="2083249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097495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5949" y="414721"/>
            <a:ext cx="8678051" cy="687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2"/>
              </a:lnSpc>
            </a:pPr>
            <a:r>
              <a:rPr lang="en-US" sz="52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 Statement &amp; Objectives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06616" y="4394523"/>
            <a:ext cx="6634793" cy="13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college lacks proper data analysis, hindering management's ability to identify progress and improve operational efficiency.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06616" y="6933975"/>
            <a:ext cx="6837384" cy="47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>
                <a:solidFill>
                  <a:srgbClr val="243861"/>
                </a:solidFill>
                <a:latin typeface="Anton"/>
                <a:ea typeface="Anton"/>
                <a:cs typeface="Anton"/>
                <a:sym typeface="Anton"/>
              </a:rPr>
              <a:t>Objective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06616" y="7569020"/>
            <a:ext cx="7161008" cy="2552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9"/>
              </a:lnSpc>
            </a:pPr>
            <a:r>
              <a:rPr lang="en-US" sz="29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leverage existing data (Courses, Students, Faculty, Enrollments) to provide actionable insights through SQL analysis and a Power BI dashboard.</a:t>
            </a:r>
          </a:p>
          <a:p>
            <a:pPr algn="l">
              <a:lnSpc>
                <a:spcPts val="408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306616" y="3671848"/>
            <a:ext cx="6837384" cy="474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>
                <a:solidFill>
                  <a:srgbClr val="243861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93181" y="2202917"/>
            <a:ext cx="5780942" cy="1864381"/>
            <a:chOff x="0" y="0"/>
            <a:chExt cx="1522553" cy="491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2553" cy="491030"/>
            </a:xfrm>
            <a:custGeom>
              <a:avLst/>
              <a:gdLst/>
              <a:ahLst/>
              <a:cxnLst/>
              <a:rect r="r" b="b" t="t" l="l"/>
              <a:pathLst>
                <a:path h="491030" w="1522553">
                  <a:moveTo>
                    <a:pt x="41516" y="0"/>
                  </a:moveTo>
                  <a:lnTo>
                    <a:pt x="1481037" y="0"/>
                  </a:lnTo>
                  <a:cubicBezTo>
                    <a:pt x="1503966" y="0"/>
                    <a:pt x="1522553" y="18587"/>
                    <a:pt x="1522553" y="41516"/>
                  </a:cubicBezTo>
                  <a:lnTo>
                    <a:pt x="1522553" y="449515"/>
                  </a:lnTo>
                  <a:cubicBezTo>
                    <a:pt x="1522553" y="472443"/>
                    <a:pt x="1503966" y="491030"/>
                    <a:pt x="1481037" y="491030"/>
                  </a:cubicBezTo>
                  <a:lnTo>
                    <a:pt x="41516" y="491030"/>
                  </a:lnTo>
                  <a:cubicBezTo>
                    <a:pt x="18587" y="491030"/>
                    <a:pt x="0" y="472443"/>
                    <a:pt x="0" y="449515"/>
                  </a:cubicBezTo>
                  <a:lnTo>
                    <a:pt x="0" y="41516"/>
                  </a:lnTo>
                  <a:cubicBezTo>
                    <a:pt x="0" y="18587"/>
                    <a:pt x="18587" y="0"/>
                    <a:pt x="41516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22553" cy="548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576117" y="1403189"/>
            <a:ext cx="4261877" cy="3291814"/>
            <a:chOff x="0" y="0"/>
            <a:chExt cx="1122470" cy="866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2470" cy="866980"/>
            </a:xfrm>
            <a:custGeom>
              <a:avLst/>
              <a:gdLst/>
              <a:ahLst/>
              <a:cxnLst/>
              <a:rect r="r" b="b" t="t" l="l"/>
              <a:pathLst>
                <a:path h="866980" w="1122470">
                  <a:moveTo>
                    <a:pt x="43597" y="0"/>
                  </a:moveTo>
                  <a:lnTo>
                    <a:pt x="1078873" y="0"/>
                  </a:lnTo>
                  <a:cubicBezTo>
                    <a:pt x="1102951" y="0"/>
                    <a:pt x="1122470" y="19519"/>
                    <a:pt x="1122470" y="43597"/>
                  </a:cubicBezTo>
                  <a:lnTo>
                    <a:pt x="1122470" y="823382"/>
                  </a:lnTo>
                  <a:cubicBezTo>
                    <a:pt x="1122470" y="847461"/>
                    <a:pt x="1102951" y="866980"/>
                    <a:pt x="1078873" y="866980"/>
                  </a:cubicBezTo>
                  <a:lnTo>
                    <a:pt x="43597" y="866980"/>
                  </a:lnTo>
                  <a:cubicBezTo>
                    <a:pt x="19519" y="866980"/>
                    <a:pt x="0" y="847461"/>
                    <a:pt x="0" y="823382"/>
                  </a:cubicBezTo>
                  <a:lnTo>
                    <a:pt x="0" y="43597"/>
                  </a:lnTo>
                  <a:cubicBezTo>
                    <a:pt x="0" y="19519"/>
                    <a:pt x="19519" y="0"/>
                    <a:pt x="43597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22470" cy="924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3520" y="2154313"/>
            <a:ext cx="4490056" cy="4517818"/>
          </a:xfrm>
          <a:custGeom>
            <a:avLst/>
            <a:gdLst/>
            <a:ahLst/>
            <a:cxnLst/>
            <a:rect r="r" b="b" t="t" l="l"/>
            <a:pathLst>
              <a:path h="4517818" w="4490056">
                <a:moveTo>
                  <a:pt x="0" y="0"/>
                </a:moveTo>
                <a:lnTo>
                  <a:pt x="4490056" y="0"/>
                </a:lnTo>
                <a:lnTo>
                  <a:pt x="4490056" y="4517817"/>
                </a:lnTo>
                <a:lnTo>
                  <a:pt x="0" y="4517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726" b="-6533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261847" y="1403189"/>
            <a:ext cx="3898265" cy="3443866"/>
          </a:xfrm>
          <a:custGeom>
            <a:avLst/>
            <a:gdLst/>
            <a:ahLst/>
            <a:cxnLst/>
            <a:rect r="r" b="b" t="t" l="l"/>
            <a:pathLst>
              <a:path h="3443866" w="3898265">
                <a:moveTo>
                  <a:pt x="0" y="0"/>
                </a:moveTo>
                <a:lnTo>
                  <a:pt x="3898265" y="0"/>
                </a:lnTo>
                <a:lnTo>
                  <a:pt x="3898265" y="3443866"/>
                </a:lnTo>
                <a:lnTo>
                  <a:pt x="0" y="3443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5750972" y="5616211"/>
            <a:ext cx="6505001" cy="4359122"/>
            <a:chOff x="0" y="0"/>
            <a:chExt cx="1522553" cy="10202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2553" cy="1020291"/>
            </a:xfrm>
            <a:custGeom>
              <a:avLst/>
              <a:gdLst/>
              <a:ahLst/>
              <a:cxnLst/>
              <a:rect r="r" b="b" t="t" l="l"/>
              <a:pathLst>
                <a:path h="1020291" w="1522553">
                  <a:moveTo>
                    <a:pt x="36895" y="0"/>
                  </a:moveTo>
                  <a:lnTo>
                    <a:pt x="1485658" y="0"/>
                  </a:lnTo>
                  <a:cubicBezTo>
                    <a:pt x="1506034" y="0"/>
                    <a:pt x="1522553" y="16518"/>
                    <a:pt x="1522553" y="36895"/>
                  </a:cubicBezTo>
                  <a:lnTo>
                    <a:pt x="1522553" y="983396"/>
                  </a:lnTo>
                  <a:cubicBezTo>
                    <a:pt x="1522553" y="993181"/>
                    <a:pt x="1518666" y="1002565"/>
                    <a:pt x="1511746" y="1009485"/>
                  </a:cubicBezTo>
                  <a:cubicBezTo>
                    <a:pt x="1504827" y="1016404"/>
                    <a:pt x="1495443" y="1020291"/>
                    <a:pt x="1485658" y="1020291"/>
                  </a:cubicBezTo>
                  <a:lnTo>
                    <a:pt x="36895" y="1020291"/>
                  </a:lnTo>
                  <a:cubicBezTo>
                    <a:pt x="27110" y="1020291"/>
                    <a:pt x="17725" y="1016404"/>
                    <a:pt x="10806" y="1009485"/>
                  </a:cubicBezTo>
                  <a:cubicBezTo>
                    <a:pt x="3887" y="1002565"/>
                    <a:pt x="0" y="993181"/>
                    <a:pt x="0" y="983396"/>
                  </a:cubicBezTo>
                  <a:lnTo>
                    <a:pt x="0" y="36895"/>
                  </a:lnTo>
                  <a:cubicBezTo>
                    <a:pt x="0" y="27110"/>
                    <a:pt x="3887" y="17725"/>
                    <a:pt x="10806" y="10806"/>
                  </a:cubicBezTo>
                  <a:cubicBezTo>
                    <a:pt x="17725" y="3887"/>
                    <a:pt x="27110" y="0"/>
                    <a:pt x="36895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522553" cy="10774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640627" y="5616211"/>
            <a:ext cx="6394735" cy="4359122"/>
          </a:xfrm>
          <a:custGeom>
            <a:avLst/>
            <a:gdLst/>
            <a:ahLst/>
            <a:cxnLst/>
            <a:rect r="r" b="b" t="t" l="l"/>
            <a:pathLst>
              <a:path h="4359122" w="6394735">
                <a:moveTo>
                  <a:pt x="0" y="0"/>
                </a:moveTo>
                <a:lnTo>
                  <a:pt x="6394735" y="0"/>
                </a:lnTo>
                <a:lnTo>
                  <a:pt x="6394735" y="4359122"/>
                </a:lnTo>
                <a:lnTo>
                  <a:pt x="0" y="4359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23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name="Group 15" id="15"/>
          <p:cNvGrpSpPr/>
          <p:nvPr/>
        </p:nvGrpSpPr>
        <p:grpSpPr>
          <a:xfrm rot="0">
            <a:off x="0" y="-688993"/>
            <a:ext cx="8693907" cy="2358798"/>
            <a:chOff x="0" y="0"/>
            <a:chExt cx="1753092" cy="475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3092" cy="512756"/>
            </a:xfrm>
            <a:custGeom>
              <a:avLst/>
              <a:gdLst/>
              <a:ahLst/>
              <a:cxnLst/>
              <a:rect r="r" b="b" t="t" l="l"/>
              <a:pathLst>
                <a:path h="512756" w="1753092">
                  <a:moveTo>
                    <a:pt x="1736048" y="0"/>
                  </a:moveTo>
                  <a:lnTo>
                    <a:pt x="17045" y="0"/>
                  </a:lnTo>
                  <a:cubicBezTo>
                    <a:pt x="7631" y="0"/>
                    <a:pt x="0" y="7631"/>
                    <a:pt x="0" y="17045"/>
                  </a:cubicBezTo>
                  <a:lnTo>
                    <a:pt x="0" y="426680"/>
                  </a:lnTo>
                  <a:cubicBezTo>
                    <a:pt x="93249" y="463628"/>
                    <a:pt x="391648" y="512756"/>
                    <a:pt x="839245" y="426680"/>
                  </a:cubicBezTo>
                  <a:cubicBezTo>
                    <a:pt x="1286845" y="338002"/>
                    <a:pt x="1634977" y="389730"/>
                    <a:pt x="1753092" y="426680"/>
                  </a:cubicBezTo>
                  <a:lnTo>
                    <a:pt x="1753092" y="17045"/>
                  </a:lnTo>
                  <a:cubicBezTo>
                    <a:pt x="1753092" y="7631"/>
                    <a:pt x="1745461" y="0"/>
                    <a:pt x="1736048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53092" cy="43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06440" y="418718"/>
            <a:ext cx="8651144" cy="609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Faculty and Enrollment Insights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33728" y="2885234"/>
            <a:ext cx="5930836" cy="85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Faculty are Evenly Spread in each department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33728" y="2029252"/>
            <a:ext cx="3586825" cy="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48232" y="2465808"/>
            <a:ext cx="351361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Dr. Blue</a:t>
            </a: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is the Highest paid Instructor w</a:t>
            </a: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hereas </a:t>
            </a:r>
            <a:r>
              <a:rPr lang="en-US" sz="2299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Dr. White</a:t>
            </a: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is the lostest Paid Instructor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64565" y="1403105"/>
            <a:ext cx="4594097" cy="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Salary Distribution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0972" y="6607599"/>
            <a:ext cx="5307154" cy="287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764" indent="-279382" lvl="1">
              <a:lnSpc>
                <a:spcPts val="3286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Majority of the enrollment are done for </a:t>
            </a:r>
            <a:r>
              <a:rPr lang="en-US" sz="2588">
                <a:solidFill>
                  <a:srgbClr val="00BF63"/>
                </a:solidFill>
                <a:latin typeface="Arial"/>
                <a:ea typeface="Arial"/>
                <a:cs typeface="Arial"/>
                <a:sym typeface="Arial"/>
              </a:rPr>
              <a:t>Dr White</a:t>
            </a:r>
          </a:p>
          <a:p>
            <a:pPr algn="l">
              <a:lnSpc>
                <a:spcPts val="3286"/>
              </a:lnSpc>
            </a:pPr>
          </a:p>
          <a:p>
            <a:pPr algn="l" marL="558764" indent="-279382" lvl="1">
              <a:lnSpc>
                <a:spcPts val="3286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There is no enrollment done for </a:t>
            </a:r>
            <a:r>
              <a:rPr lang="en-US" sz="2588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Chemistry</a:t>
            </a:r>
            <a:r>
              <a:rPr lang="en-US" sz="25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department</a:t>
            </a:r>
          </a:p>
          <a:p>
            <a:pPr algn="l">
              <a:lnSpc>
                <a:spcPts val="3286"/>
              </a:lnSpc>
            </a:pPr>
          </a:p>
          <a:p>
            <a:pPr algn="l" marL="558764" indent="-279382" lvl="1">
              <a:lnSpc>
                <a:spcPts val="3286"/>
              </a:lnSpc>
              <a:buFont typeface="Arial"/>
              <a:buChar char="•"/>
            </a:pPr>
            <a:r>
              <a:rPr lang="en-US" sz="258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enrollment done for </a:t>
            </a:r>
            <a:r>
              <a:rPr lang="en-US" sz="2588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Dr. Blue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40330" y="5676077"/>
            <a:ext cx="5307154" cy="636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1"/>
              </a:lnSpc>
            </a:pPr>
            <a:r>
              <a:rPr lang="en-US" sz="3500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Student Instructor relation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94770" y="1252018"/>
            <a:ext cx="7283029" cy="2179522"/>
            <a:chOff x="0" y="0"/>
            <a:chExt cx="1918164" cy="574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18164" cy="574030"/>
            </a:xfrm>
            <a:custGeom>
              <a:avLst/>
              <a:gdLst/>
              <a:ahLst/>
              <a:cxnLst/>
              <a:rect r="r" b="b" t="t" l="l"/>
              <a:pathLst>
                <a:path h="574030" w="1918164">
                  <a:moveTo>
                    <a:pt x="32953" y="0"/>
                  </a:moveTo>
                  <a:lnTo>
                    <a:pt x="1885211" y="0"/>
                  </a:lnTo>
                  <a:cubicBezTo>
                    <a:pt x="1893950" y="0"/>
                    <a:pt x="1902332" y="3472"/>
                    <a:pt x="1908512" y="9652"/>
                  </a:cubicBezTo>
                  <a:cubicBezTo>
                    <a:pt x="1914692" y="15832"/>
                    <a:pt x="1918164" y="24214"/>
                    <a:pt x="1918164" y="32953"/>
                  </a:cubicBezTo>
                  <a:lnTo>
                    <a:pt x="1918164" y="541077"/>
                  </a:lnTo>
                  <a:cubicBezTo>
                    <a:pt x="1918164" y="549817"/>
                    <a:pt x="1914692" y="558199"/>
                    <a:pt x="1908512" y="564379"/>
                  </a:cubicBezTo>
                  <a:cubicBezTo>
                    <a:pt x="1902332" y="570559"/>
                    <a:pt x="1893950" y="574030"/>
                    <a:pt x="1885211" y="574030"/>
                  </a:cubicBezTo>
                  <a:lnTo>
                    <a:pt x="32953" y="574030"/>
                  </a:lnTo>
                  <a:cubicBezTo>
                    <a:pt x="24214" y="574030"/>
                    <a:pt x="15832" y="570559"/>
                    <a:pt x="9652" y="564379"/>
                  </a:cubicBezTo>
                  <a:cubicBezTo>
                    <a:pt x="3472" y="558199"/>
                    <a:pt x="0" y="549817"/>
                    <a:pt x="0" y="541077"/>
                  </a:cubicBezTo>
                  <a:lnTo>
                    <a:pt x="0" y="32953"/>
                  </a:lnTo>
                  <a:cubicBezTo>
                    <a:pt x="0" y="24214"/>
                    <a:pt x="3472" y="15832"/>
                    <a:pt x="9652" y="9652"/>
                  </a:cubicBezTo>
                  <a:cubicBezTo>
                    <a:pt x="15832" y="3472"/>
                    <a:pt x="24214" y="0"/>
                    <a:pt x="32953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18164" cy="63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16920" y="1252018"/>
            <a:ext cx="4760732" cy="4782231"/>
          </a:xfrm>
          <a:custGeom>
            <a:avLst/>
            <a:gdLst/>
            <a:ahLst/>
            <a:cxnLst/>
            <a:rect r="r" b="b" t="t" l="l"/>
            <a:pathLst>
              <a:path h="4782231" w="4760732">
                <a:moveTo>
                  <a:pt x="0" y="0"/>
                </a:moveTo>
                <a:lnTo>
                  <a:pt x="4760733" y="0"/>
                </a:lnTo>
                <a:lnTo>
                  <a:pt x="4760733" y="4782232"/>
                </a:lnTo>
                <a:lnTo>
                  <a:pt x="0" y="47822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31" r="0" b="-4707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301259" y="4485639"/>
            <a:ext cx="7044548" cy="2179522"/>
            <a:chOff x="0" y="0"/>
            <a:chExt cx="1855354" cy="574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5354" cy="574030"/>
            </a:xfrm>
            <a:custGeom>
              <a:avLst/>
              <a:gdLst/>
              <a:ahLst/>
              <a:cxnLst/>
              <a:rect r="r" b="b" t="t" l="l"/>
              <a:pathLst>
                <a:path h="574030" w="1855354">
                  <a:moveTo>
                    <a:pt x="34069" y="0"/>
                  </a:moveTo>
                  <a:lnTo>
                    <a:pt x="1821285" y="0"/>
                  </a:lnTo>
                  <a:cubicBezTo>
                    <a:pt x="1840101" y="0"/>
                    <a:pt x="1855354" y="15253"/>
                    <a:pt x="1855354" y="34069"/>
                  </a:cubicBezTo>
                  <a:lnTo>
                    <a:pt x="1855354" y="539962"/>
                  </a:lnTo>
                  <a:cubicBezTo>
                    <a:pt x="1855354" y="558777"/>
                    <a:pt x="1840101" y="574030"/>
                    <a:pt x="1821285" y="574030"/>
                  </a:cubicBezTo>
                  <a:lnTo>
                    <a:pt x="34069" y="574030"/>
                  </a:lnTo>
                  <a:cubicBezTo>
                    <a:pt x="15253" y="574030"/>
                    <a:pt x="0" y="558777"/>
                    <a:pt x="0" y="539962"/>
                  </a:cubicBezTo>
                  <a:lnTo>
                    <a:pt x="0" y="34069"/>
                  </a:lnTo>
                  <a:cubicBezTo>
                    <a:pt x="0" y="15253"/>
                    <a:pt x="15253" y="0"/>
                    <a:pt x="34069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855354" cy="6311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01259" y="1448000"/>
            <a:ext cx="7040519" cy="3323776"/>
          </a:xfrm>
          <a:custGeom>
            <a:avLst/>
            <a:gdLst/>
            <a:ahLst/>
            <a:cxnLst/>
            <a:rect r="r" b="b" t="t" l="l"/>
            <a:pathLst>
              <a:path h="3323776" w="7040519">
                <a:moveTo>
                  <a:pt x="0" y="0"/>
                </a:moveTo>
                <a:lnTo>
                  <a:pt x="7040520" y="0"/>
                </a:lnTo>
                <a:lnTo>
                  <a:pt x="7040520" y="3323775"/>
                </a:lnTo>
                <a:lnTo>
                  <a:pt x="0" y="3323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098" r="0" b="0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2191801" y="6881068"/>
            <a:ext cx="10285994" cy="2929216"/>
            <a:chOff x="0" y="0"/>
            <a:chExt cx="2709068" cy="7714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9068" cy="771481"/>
            </a:xfrm>
            <a:custGeom>
              <a:avLst/>
              <a:gdLst/>
              <a:ahLst/>
              <a:cxnLst/>
              <a:rect r="r" b="b" t="t" l="l"/>
              <a:pathLst>
                <a:path h="771481" w="2709068">
                  <a:moveTo>
                    <a:pt x="23333" y="0"/>
                  </a:moveTo>
                  <a:lnTo>
                    <a:pt x="2685736" y="0"/>
                  </a:lnTo>
                  <a:cubicBezTo>
                    <a:pt x="2698622" y="0"/>
                    <a:pt x="2709068" y="10446"/>
                    <a:pt x="2709068" y="23333"/>
                  </a:cubicBezTo>
                  <a:lnTo>
                    <a:pt x="2709068" y="748148"/>
                  </a:lnTo>
                  <a:cubicBezTo>
                    <a:pt x="2709068" y="754336"/>
                    <a:pt x="2706610" y="760271"/>
                    <a:pt x="2702234" y="764647"/>
                  </a:cubicBezTo>
                  <a:cubicBezTo>
                    <a:pt x="2697859" y="769023"/>
                    <a:pt x="2691924" y="771481"/>
                    <a:pt x="2685736" y="771481"/>
                  </a:cubicBezTo>
                  <a:lnTo>
                    <a:pt x="23333" y="771481"/>
                  </a:lnTo>
                  <a:cubicBezTo>
                    <a:pt x="10446" y="771481"/>
                    <a:pt x="0" y="761034"/>
                    <a:pt x="0" y="748148"/>
                  </a:cubicBezTo>
                  <a:lnTo>
                    <a:pt x="0" y="23333"/>
                  </a:lnTo>
                  <a:cubicBezTo>
                    <a:pt x="0" y="10446"/>
                    <a:pt x="10446" y="0"/>
                    <a:pt x="23333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709068" cy="828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003060" y="6529550"/>
            <a:ext cx="5974592" cy="3280735"/>
          </a:xfrm>
          <a:custGeom>
            <a:avLst/>
            <a:gdLst/>
            <a:ahLst/>
            <a:cxnLst/>
            <a:rect r="r" b="b" t="t" l="l"/>
            <a:pathLst>
              <a:path h="3280735" w="5974592">
                <a:moveTo>
                  <a:pt x="0" y="0"/>
                </a:moveTo>
                <a:lnTo>
                  <a:pt x="5974593" y="0"/>
                </a:lnTo>
                <a:lnTo>
                  <a:pt x="5974593" y="3280735"/>
                </a:lnTo>
                <a:lnTo>
                  <a:pt x="0" y="3280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8" r="-7006" b="-8202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333174" y="7804483"/>
            <a:ext cx="5335201" cy="1875934"/>
          </a:xfrm>
          <a:custGeom>
            <a:avLst/>
            <a:gdLst/>
            <a:ahLst/>
            <a:cxnLst/>
            <a:rect r="r" b="b" t="t" l="l"/>
            <a:pathLst>
              <a:path h="1875934" w="5335201">
                <a:moveTo>
                  <a:pt x="0" y="0"/>
                </a:moveTo>
                <a:lnTo>
                  <a:pt x="5335200" y="0"/>
                </a:lnTo>
                <a:lnTo>
                  <a:pt x="5335200" y="1875934"/>
                </a:lnTo>
                <a:lnTo>
                  <a:pt x="0" y="1875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2086" b="-7821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grpSp>
        <p:nvGrpSpPr>
          <p:cNvPr name="Group 16" id="16"/>
          <p:cNvGrpSpPr/>
          <p:nvPr/>
        </p:nvGrpSpPr>
        <p:grpSpPr>
          <a:xfrm rot="0">
            <a:off x="9556856" y="8101034"/>
            <a:ext cx="1557723" cy="1282831"/>
            <a:chOff x="0" y="0"/>
            <a:chExt cx="6477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20650" y="107950"/>
              <a:ext cx="527050" cy="260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-925568"/>
            <a:ext cx="7790698" cy="2204357"/>
            <a:chOff x="0" y="0"/>
            <a:chExt cx="1570964" cy="444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70964" cy="481613"/>
            </a:xfrm>
            <a:custGeom>
              <a:avLst/>
              <a:gdLst/>
              <a:ahLst/>
              <a:cxnLst/>
              <a:rect r="r" b="b" t="t" l="l"/>
              <a:pathLst>
                <a:path h="481613" w="1570964">
                  <a:moveTo>
                    <a:pt x="1551943" y="0"/>
                  </a:moveTo>
                  <a:lnTo>
                    <a:pt x="19021" y="0"/>
                  </a:lnTo>
                  <a:cubicBezTo>
                    <a:pt x="8516" y="0"/>
                    <a:pt x="0" y="8516"/>
                    <a:pt x="0" y="19021"/>
                  </a:cubicBezTo>
                  <a:lnTo>
                    <a:pt x="0" y="398743"/>
                  </a:lnTo>
                  <a:cubicBezTo>
                    <a:pt x="83562" y="433272"/>
                    <a:pt x="350960" y="481613"/>
                    <a:pt x="752056" y="398743"/>
                  </a:cubicBezTo>
                  <a:cubicBezTo>
                    <a:pt x="1153155" y="315872"/>
                    <a:pt x="1465119" y="364213"/>
                    <a:pt x="1570964" y="398743"/>
                  </a:cubicBezTo>
                  <a:lnTo>
                    <a:pt x="1570964" y="19021"/>
                  </a:lnTo>
                  <a:cubicBezTo>
                    <a:pt x="1570964" y="8516"/>
                    <a:pt x="1562448" y="0"/>
                    <a:pt x="1551943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570964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237279" y="2101250"/>
            <a:ext cx="4718328" cy="82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can be clearly seen that majory of students are active.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37279" y="1181300"/>
            <a:ext cx="3857845" cy="75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99"/>
              </a:lnSpc>
            </a:pPr>
            <a:r>
              <a:rPr lang="en-US" sz="31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Students By status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73075" y="262336"/>
            <a:ext cx="7044548" cy="58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4"/>
              </a:lnSpc>
            </a:pPr>
            <a:r>
              <a:rPr lang="en-US" sz="4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Student Performance &amp; Status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4049" y="5605893"/>
            <a:ext cx="6378969" cy="821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Majorty of the credits are completed in year 2021 and 2022.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1259" y="4844647"/>
            <a:ext cx="6063829" cy="60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31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Credits Completed Over Time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333174" y="7001080"/>
            <a:ext cx="6711759" cy="603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3"/>
              </a:lnSpc>
            </a:pPr>
            <a:r>
              <a:rPr lang="en-US" sz="3199">
                <a:solidFill>
                  <a:srgbClr val="C1FF72"/>
                </a:solidFill>
                <a:latin typeface="Arial"/>
                <a:ea typeface="Arial"/>
                <a:cs typeface="Arial"/>
                <a:sym typeface="Arial"/>
              </a:rPr>
              <a:t>Top 3 Students by Credits Earned.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2702" y="2281346"/>
            <a:ext cx="9399164" cy="3062486"/>
          </a:xfrm>
          <a:custGeom>
            <a:avLst/>
            <a:gdLst/>
            <a:ahLst/>
            <a:cxnLst/>
            <a:rect r="r" b="b" t="t" l="l"/>
            <a:pathLst>
              <a:path h="3062486" w="9399164">
                <a:moveTo>
                  <a:pt x="0" y="0"/>
                </a:moveTo>
                <a:lnTo>
                  <a:pt x="9399163" y="0"/>
                </a:lnTo>
                <a:lnTo>
                  <a:pt x="9399163" y="3062486"/>
                </a:lnTo>
                <a:lnTo>
                  <a:pt x="0" y="3062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4" t="0" r="-17132" b="0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57845" y="2049159"/>
            <a:ext cx="5888913" cy="2074102"/>
          </a:xfrm>
          <a:custGeom>
            <a:avLst/>
            <a:gdLst/>
            <a:ahLst/>
            <a:cxnLst/>
            <a:rect r="r" b="b" t="t" l="l"/>
            <a:pathLst>
              <a:path h="2074102" w="5888913">
                <a:moveTo>
                  <a:pt x="0" y="0"/>
                </a:moveTo>
                <a:lnTo>
                  <a:pt x="5888914" y="0"/>
                </a:lnTo>
                <a:lnTo>
                  <a:pt x="5888914" y="2074102"/>
                </a:lnTo>
                <a:lnTo>
                  <a:pt x="0" y="2074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05" t="0" r="-4785" b="0"/>
            </a:stretch>
          </a:blipFill>
          <a:ln w="38100" cap="sq">
            <a:solidFill>
              <a:srgbClr val="000000"/>
            </a:solidFill>
            <a:prstDash val="dash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10204771" y="2281346"/>
            <a:ext cx="1346514" cy="1071512"/>
            <a:chOff x="0" y="0"/>
            <a:chExt cx="812800" cy="646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646800"/>
            </a:xfrm>
            <a:custGeom>
              <a:avLst/>
              <a:gdLst/>
              <a:ahLst/>
              <a:cxnLst/>
              <a:rect r="r" b="b" t="t" l="l"/>
              <a:pathLst>
                <a:path h="646800" w="812800">
                  <a:moveTo>
                    <a:pt x="812800" y="323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443600"/>
                  </a:lnTo>
                  <a:lnTo>
                    <a:pt x="406400" y="443600"/>
                  </a:lnTo>
                  <a:lnTo>
                    <a:pt x="406400" y="646800"/>
                  </a:lnTo>
                  <a:lnTo>
                    <a:pt x="812800" y="323400"/>
                  </a:lnTo>
                  <a:close/>
                </a:path>
              </a:pathLst>
            </a:custGeom>
            <a:solidFill>
              <a:srgbClr val="9F65F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46050"/>
              <a:ext cx="711200" cy="29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-155198"/>
            <a:ext cx="8781140" cy="2204357"/>
            <a:chOff x="0" y="0"/>
            <a:chExt cx="1770683" cy="444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70683" cy="481613"/>
            </a:xfrm>
            <a:custGeom>
              <a:avLst/>
              <a:gdLst/>
              <a:ahLst/>
              <a:cxnLst/>
              <a:rect r="r" b="b" t="t" l="l"/>
              <a:pathLst>
                <a:path h="481613" w="1770683">
                  <a:moveTo>
                    <a:pt x="1753807" y="0"/>
                  </a:moveTo>
                  <a:lnTo>
                    <a:pt x="16875" y="0"/>
                  </a:lnTo>
                  <a:cubicBezTo>
                    <a:pt x="12400" y="0"/>
                    <a:pt x="8107" y="1778"/>
                    <a:pt x="4943" y="4943"/>
                  </a:cubicBezTo>
                  <a:cubicBezTo>
                    <a:pt x="1778" y="8107"/>
                    <a:pt x="0" y="12400"/>
                    <a:pt x="0" y="16875"/>
                  </a:cubicBezTo>
                  <a:lnTo>
                    <a:pt x="0" y="398743"/>
                  </a:lnTo>
                  <a:cubicBezTo>
                    <a:pt x="94185" y="433272"/>
                    <a:pt x="395578" y="481613"/>
                    <a:pt x="847665" y="398743"/>
                  </a:cubicBezTo>
                  <a:cubicBezTo>
                    <a:pt x="1299757" y="315872"/>
                    <a:pt x="1651382" y="364213"/>
                    <a:pt x="1770683" y="398743"/>
                  </a:cubicBezTo>
                  <a:lnTo>
                    <a:pt x="1770683" y="16875"/>
                  </a:lnTo>
                  <a:cubicBezTo>
                    <a:pt x="1770683" y="12400"/>
                    <a:pt x="1768905" y="8107"/>
                    <a:pt x="1765740" y="4943"/>
                  </a:cubicBezTo>
                  <a:cubicBezTo>
                    <a:pt x="1762575" y="1778"/>
                    <a:pt x="1758283" y="0"/>
                    <a:pt x="1753807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770683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06440" y="354474"/>
            <a:ext cx="7468820" cy="60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5"/>
              </a:lnSpc>
            </a:pPr>
            <a:r>
              <a:rPr lang="en-US" sz="45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Deeper Dive: Operational Gaps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6440" y="694072"/>
            <a:ext cx="7468820" cy="82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99"/>
              </a:lnSpc>
            </a:pPr>
            <a:r>
              <a:rPr lang="en-US" sz="3699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  <a:r>
              <a:rPr lang="en-US" sz="3699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dentifying Operational Bottlenecks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57845" y="4164204"/>
            <a:ext cx="5601455" cy="1396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5"/>
              </a:lnSpc>
            </a:pPr>
            <a:r>
              <a:rPr lang="en-US" sz="2699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low-</a:t>
            </a:r>
            <a:r>
              <a:rPr lang="en-US" sz="2699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efficiency area</a:t>
            </a:r>
          </a:p>
          <a:p>
            <a:pPr algn="just">
              <a:lnSpc>
                <a:spcPts val="3475"/>
              </a:lnSpc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Instructors teaching courses with &lt;3 students enrolled.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6440" y="5963997"/>
            <a:ext cx="17255684" cy="204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6"/>
              </a:lnSpc>
            </a:pPr>
            <a:r>
              <a:rPr lang="en-US" sz="3833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Actionable statement on efficiency</a:t>
            </a:r>
          </a:p>
          <a:p>
            <a:pPr algn="l">
              <a:lnSpc>
                <a:spcPts val="5093"/>
              </a:lnSpc>
            </a:pPr>
            <a:r>
              <a:rPr lang="en-US" sz="36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Courses from </a:t>
            </a:r>
            <a:r>
              <a:rPr lang="en-US" sz="3612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Chemistry department </a:t>
            </a:r>
            <a:r>
              <a:rPr lang="en-US" sz="36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low enrollment and must be reviewed. The distribution of faculty across courses appears </a:t>
            </a:r>
            <a:r>
              <a:rPr lang="en-US" sz="3612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Unbalanced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2544" y="-550727"/>
            <a:ext cx="9120273" cy="2204357"/>
            <a:chOff x="0" y="0"/>
            <a:chExt cx="1839067" cy="444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067" cy="481613"/>
            </a:xfrm>
            <a:custGeom>
              <a:avLst/>
              <a:gdLst/>
              <a:ahLst/>
              <a:cxnLst/>
              <a:rect r="r" b="b" t="t" l="l"/>
              <a:pathLst>
                <a:path h="481613" w="1839067">
                  <a:moveTo>
                    <a:pt x="1822820" y="0"/>
                  </a:moveTo>
                  <a:lnTo>
                    <a:pt x="16248" y="0"/>
                  </a:lnTo>
                  <a:cubicBezTo>
                    <a:pt x="7274" y="0"/>
                    <a:pt x="0" y="7274"/>
                    <a:pt x="0" y="16248"/>
                  </a:cubicBezTo>
                  <a:lnTo>
                    <a:pt x="0" y="398743"/>
                  </a:lnTo>
                  <a:cubicBezTo>
                    <a:pt x="97823" y="433272"/>
                    <a:pt x="410855" y="481613"/>
                    <a:pt x="880403" y="398743"/>
                  </a:cubicBezTo>
                  <a:cubicBezTo>
                    <a:pt x="1349954" y="315872"/>
                    <a:pt x="1715159" y="364213"/>
                    <a:pt x="1839067" y="398743"/>
                  </a:cubicBezTo>
                  <a:lnTo>
                    <a:pt x="1839067" y="16248"/>
                  </a:lnTo>
                  <a:cubicBezTo>
                    <a:pt x="1839067" y="7274"/>
                    <a:pt x="1831793" y="0"/>
                    <a:pt x="1822820" y="0"/>
                  </a:cubicBezTo>
                  <a:close/>
                </a:path>
              </a:pathLst>
            </a:custGeom>
            <a:solidFill>
              <a:srgbClr val="24376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39067" cy="406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1339" y="446278"/>
            <a:ext cx="7772924" cy="58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44"/>
              </a:lnSpc>
            </a:pPr>
            <a:r>
              <a:rPr lang="en-US" sz="44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 and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6158" y="1810994"/>
            <a:ext cx="17255684" cy="207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3333">
                <a:solidFill>
                  <a:srgbClr val="FF3131"/>
                </a:solidFill>
                <a:latin typeface="Anton"/>
                <a:ea typeface="Anton"/>
                <a:cs typeface="Anton"/>
                <a:sym typeface="Anton"/>
              </a:rPr>
              <a:t>Recap of 3 Main Findings</a:t>
            </a:r>
          </a:p>
          <a:p>
            <a:pPr algn="l">
              <a:lnSpc>
                <a:spcPts val="3683"/>
              </a:lnSpc>
            </a:pPr>
            <a:r>
              <a:rPr lang="en-US" sz="26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Compensation Gaps in all the 4 faculties</a:t>
            </a:r>
          </a:p>
          <a:p>
            <a:pPr algn="l">
              <a:lnSpc>
                <a:spcPts val="3683"/>
              </a:lnSpc>
            </a:pPr>
            <a:r>
              <a:rPr lang="en-US" sz="26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High Enrollment in </a:t>
            </a:r>
            <a:r>
              <a:rPr lang="en-US" sz="2612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Mathematics</a:t>
            </a:r>
            <a:r>
              <a:rPr lang="en-US" sz="26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Courses (Enrollments in only ¾ department)</a:t>
            </a:r>
          </a:p>
          <a:p>
            <a:pPr algn="l">
              <a:lnSpc>
                <a:spcPts val="3683"/>
              </a:lnSpc>
            </a:pPr>
            <a:r>
              <a:rPr lang="en-US" sz="26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Low Utilization in </a:t>
            </a:r>
            <a:r>
              <a:rPr lang="en-US" sz="2612" b="true">
                <a:solidFill>
                  <a:srgbClr val="FF3131"/>
                </a:solidFill>
                <a:latin typeface="Arial Bold"/>
                <a:ea typeface="Arial Bold"/>
                <a:cs typeface="Arial Bold"/>
                <a:sym typeface="Arial Bold"/>
              </a:rPr>
              <a:t>Chemistry</a:t>
            </a:r>
            <a:r>
              <a:rPr lang="en-US" sz="26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Courses.(0 enrollment, 0 credits)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16158" y="4407535"/>
            <a:ext cx="16743142" cy="166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3333">
                <a:solidFill>
                  <a:srgbClr val="E23FBE"/>
                </a:solidFill>
                <a:latin typeface="Anton"/>
                <a:ea typeface="Anton"/>
                <a:cs typeface="Anton"/>
                <a:sym typeface="Anton"/>
              </a:rPr>
              <a:t>Recommendation 1</a:t>
            </a:r>
          </a:p>
          <a:p>
            <a:pPr algn="l">
              <a:lnSpc>
                <a:spcPts val="3965"/>
              </a:lnSpc>
            </a:pPr>
            <a:r>
              <a:rPr lang="en-US" sz="2812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Faculty Review: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Investigate salary benc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hma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rk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for low-compensated departments (e.g., Mat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hem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at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) to ensure competitive rates.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6158" y="6313993"/>
            <a:ext cx="16422813" cy="1167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3333">
                <a:solidFill>
                  <a:srgbClr val="E23FBE"/>
                </a:solidFill>
                <a:latin typeface="Anton"/>
                <a:ea typeface="Anton"/>
                <a:cs typeface="Anton"/>
                <a:sym typeface="Anton"/>
              </a:rPr>
              <a:t>Recommendation 2</a:t>
            </a:r>
          </a:p>
          <a:p>
            <a:pPr algn="l">
              <a:lnSpc>
                <a:spcPts val="3965"/>
              </a:lnSpc>
            </a:pPr>
            <a:r>
              <a:rPr lang="en-US" sz="2812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Course Rationalization: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Evaluate under-enrolled courses for consolidation or retirement.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6158" y="7882720"/>
            <a:ext cx="16062652" cy="166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3333">
                <a:solidFill>
                  <a:srgbClr val="E23FBE"/>
                </a:solidFill>
                <a:latin typeface="Anton"/>
                <a:ea typeface="Anton"/>
                <a:cs typeface="Anton"/>
                <a:sym typeface="Anton"/>
              </a:rPr>
              <a:t>Recommendation 3</a:t>
            </a:r>
          </a:p>
          <a:p>
            <a:pPr algn="l">
              <a:lnSpc>
                <a:spcPts val="3965"/>
              </a:lnSpc>
            </a:pPr>
            <a:r>
              <a:rPr lang="en-US" sz="2812" b="true">
                <a:solidFill>
                  <a:srgbClr val="00BF63"/>
                </a:solidFill>
                <a:latin typeface="Arial Bold"/>
                <a:ea typeface="Arial Bold"/>
                <a:cs typeface="Arial Bold"/>
                <a:sym typeface="Arial Bold"/>
              </a:rPr>
              <a:t>Performance Tracking: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Use the Credits Over Time das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hboa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rd to proactively identify stud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sz="281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who fall behind early.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666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07790" y="6300295"/>
            <a:ext cx="10072420" cy="985848"/>
            <a:chOff x="0" y="0"/>
            <a:chExt cx="2652818" cy="2596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52819" cy="259647"/>
            </a:xfrm>
            <a:custGeom>
              <a:avLst/>
              <a:gdLst/>
              <a:ahLst/>
              <a:cxnLst/>
              <a:rect r="r" b="b" t="t" l="l"/>
              <a:pathLst>
                <a:path h="259647" w="2652819">
                  <a:moveTo>
                    <a:pt x="39200" y="0"/>
                  </a:moveTo>
                  <a:lnTo>
                    <a:pt x="2613619" y="0"/>
                  </a:lnTo>
                  <a:cubicBezTo>
                    <a:pt x="2624015" y="0"/>
                    <a:pt x="2633986" y="4130"/>
                    <a:pt x="2641337" y="11481"/>
                  </a:cubicBezTo>
                  <a:cubicBezTo>
                    <a:pt x="2648689" y="18833"/>
                    <a:pt x="2652819" y="28803"/>
                    <a:pt x="2652819" y="39200"/>
                  </a:cubicBezTo>
                  <a:lnTo>
                    <a:pt x="2652819" y="220447"/>
                  </a:lnTo>
                  <a:cubicBezTo>
                    <a:pt x="2652819" y="230844"/>
                    <a:pt x="2648689" y="240815"/>
                    <a:pt x="2641337" y="248166"/>
                  </a:cubicBezTo>
                  <a:cubicBezTo>
                    <a:pt x="2633986" y="255517"/>
                    <a:pt x="2624015" y="259647"/>
                    <a:pt x="2613619" y="259647"/>
                  </a:cubicBezTo>
                  <a:lnTo>
                    <a:pt x="39200" y="259647"/>
                  </a:lnTo>
                  <a:cubicBezTo>
                    <a:pt x="28803" y="259647"/>
                    <a:pt x="18833" y="255517"/>
                    <a:pt x="11481" y="248166"/>
                  </a:cubicBezTo>
                  <a:cubicBezTo>
                    <a:pt x="4130" y="240815"/>
                    <a:pt x="0" y="230844"/>
                    <a:pt x="0" y="220447"/>
                  </a:cubicBezTo>
                  <a:lnTo>
                    <a:pt x="0" y="39200"/>
                  </a:lnTo>
                  <a:cubicBezTo>
                    <a:pt x="0" y="28803"/>
                    <a:pt x="4130" y="18833"/>
                    <a:pt x="11481" y="11481"/>
                  </a:cubicBezTo>
                  <a:cubicBezTo>
                    <a:pt x="18833" y="4130"/>
                    <a:pt x="28803" y="0"/>
                    <a:pt x="3920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652818" cy="316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0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99787" y="925556"/>
            <a:ext cx="825152" cy="206288"/>
          </a:xfrm>
          <a:custGeom>
            <a:avLst/>
            <a:gdLst/>
            <a:ahLst/>
            <a:cxnLst/>
            <a:rect r="r" b="b" t="t" l="l"/>
            <a:pathLst>
              <a:path h="206288" w="825152">
                <a:moveTo>
                  <a:pt x="0" y="0"/>
                </a:moveTo>
                <a:lnTo>
                  <a:pt x="825152" y="0"/>
                </a:lnTo>
                <a:lnTo>
                  <a:pt x="825152" y="206288"/>
                </a:lnTo>
                <a:lnTo>
                  <a:pt x="0" y="206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5683" y="3391073"/>
            <a:ext cx="11716634" cy="261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95"/>
              </a:lnSpc>
            </a:pPr>
            <a:r>
              <a:rPr lang="en-US" sz="19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38102" y="6423332"/>
            <a:ext cx="7811796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243761"/>
                </a:solidFill>
                <a:latin typeface="Poppins Bold"/>
                <a:ea typeface="Poppins Bold"/>
                <a:cs typeface="Poppins Bold"/>
                <a:sym typeface="Poppins Bold"/>
              </a:rPr>
              <a:t>For the Attention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79138" y="9155156"/>
            <a:ext cx="825152" cy="206288"/>
          </a:xfrm>
          <a:custGeom>
            <a:avLst/>
            <a:gdLst/>
            <a:ahLst/>
            <a:cxnLst/>
            <a:rect r="r" b="b" t="t" l="l"/>
            <a:pathLst>
              <a:path h="206288" w="825152">
                <a:moveTo>
                  <a:pt x="0" y="0"/>
                </a:moveTo>
                <a:lnTo>
                  <a:pt x="825152" y="0"/>
                </a:lnTo>
                <a:lnTo>
                  <a:pt x="825152" y="206288"/>
                </a:lnTo>
                <a:lnTo>
                  <a:pt x="0" y="206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DAG1XvVEcb0</dc:identifier>
  <dcterms:modified xsi:type="dcterms:W3CDTF">2011-08-01T06:04:30Z</dcterms:modified>
  <cp:revision>1</cp:revision>
  <dc:title>College Management System</dc:title>
</cp:coreProperties>
</file>